
<file path=[Content_Types].xml><?xml version="1.0" encoding="utf-8"?>
<Types xmlns="http://schemas.openxmlformats.org/package/2006/content-types">
  <Default Extension="jpeg" ContentType="image/jpeg"/>
  <Default Extension="png" ContentType="image/png"/>
  <Default Extension="png&amp;sig=umgdlDCum1o--l6Rj6ougdTW3yVAa4UY7pEM8DKJeYk=&amp;t=o&amp;etag=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0" r:id="rId9"/>
    <p:sldId id="264" r:id="rId10"/>
    <p:sldId id="265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DC3E6"/>
    <a:srgbClr val="C9C9C9"/>
    <a:srgbClr val="F3B2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D8A8F3-9A84-461A-876D-539C6F499E4F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D6BEDB-3E73-411C-934F-BC3BBE32CF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8288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D6BEDB-3E73-411C-934F-BC3BBE32CFAC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97547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19AAF-80F2-46BC-6F14-F6B75B7B6B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02B708-F160-E6FA-A836-232072ADE3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148CE8-D233-4E4B-0381-F2AAD87E2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7B71D-BD33-4C69-BCB8-09E11AC12661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346553-4519-12D3-9045-ADF4015B4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52E578-AF3C-5B8A-3FF3-ADB818E15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A18E9-C4BE-4466-8FD4-CF7C06465F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0877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0152E-397F-985B-F293-F6BEA389C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1D3571-19D7-0BBD-CB0A-196126CBAC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8141E4-32C6-314A-C6D7-EF9308254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7B71D-BD33-4C69-BCB8-09E11AC12661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D32E26-FA5B-3C61-9580-1384BB906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946FC3-3966-E161-1D57-8FBBCDA0F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A18E9-C4BE-4466-8FD4-CF7C06465F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551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6931D-439C-1F51-3E3D-ED0611C56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851182-AB48-6171-9281-4E18D9ABDF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7A6EA-7050-E687-9D74-081C5D2E2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7B71D-BD33-4C69-BCB8-09E11AC12661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9A3F46-591D-CA2D-4F85-A452DDFBD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7BFD8C-EF42-D901-B87D-833D03989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A18E9-C4BE-4466-8FD4-CF7C06465F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9721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DA774-7FCA-E653-C266-F4ECC5D12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A16D8E-1541-E4EF-0EAD-8AA4137DA7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2663B3-2733-3AB5-DBBD-96BE944E3A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71F054-FFCF-EE95-1821-F6FBF5B26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7B71D-BD33-4C69-BCB8-09E11AC12661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A73A6A-D87E-5636-C02E-0E70AAA48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11FC55-CB87-AB84-3279-A84D45B38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A18E9-C4BE-4466-8FD4-CF7C06465F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9950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D2EB9-ACD0-91B6-4BDB-0F97A06B4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3C41BB-8E86-F926-0C66-2E717CF1D8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91A731-E614-BF97-F83A-F8764C67EB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DC78CF-BDD2-13DF-96DF-03D313EA3C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362B10-9BDC-DC4D-E81E-72F5AEC427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B3D789-1614-3FEF-0D0D-C9433F1DC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7B71D-BD33-4C69-BCB8-09E11AC12661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F1638D-1366-5679-E2FF-497277E3F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6A0096-2EB6-46BF-16CB-B36F5B30E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A18E9-C4BE-4466-8FD4-CF7C06465F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41636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D45E2-EA75-B800-0E19-B45C9C907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3F14AF-3291-1B7E-6D7A-3C582A998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7B71D-BD33-4C69-BCB8-09E11AC12661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247156-772C-BD2B-A449-14B33D482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B1424E-CD7E-73C8-1470-5AC229B5F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A18E9-C4BE-4466-8FD4-CF7C06465F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6800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FCDAA8-468E-8FD8-F936-C7F905C42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7B71D-BD33-4C69-BCB8-09E11AC12661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A79498-9D90-0BD7-166F-8C40A1379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5510FB-66D6-A539-8F1E-11FD24865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A18E9-C4BE-4466-8FD4-CF7C06465F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4243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237D4-57B1-D311-987A-8EB7231B4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A958D-860A-F71D-57E9-A933357722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A68E4A-D432-6F58-A82F-1E691760CC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157BBB-D0F5-1F22-6101-BC17954DB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7B71D-BD33-4C69-BCB8-09E11AC12661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094A88-1E81-E935-B13E-E5EDA9AB1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8A664C-EEE4-A2FA-45C8-E7C2E8D35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A18E9-C4BE-4466-8FD4-CF7C06465F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5938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7D0E5-E18B-D66A-6B9E-79303F79E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DC692C-837C-76C1-26D0-A4D8369B47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AC40D8-90DD-0023-1B27-3749198A61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FF7995-ED0E-A85D-CAE4-9C13E54DB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7B71D-BD33-4C69-BCB8-09E11AC12661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EE25DB-09F7-3C1A-98A2-BBF03B0B5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1EC521-17E7-81C1-B84F-AD44080A4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A18E9-C4BE-4466-8FD4-CF7C06465F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2400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C6A0A-6060-4525-A348-EE21C03F0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D9B5A0-5D6E-E188-57E9-B54ECE26D2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A325FA-EC9F-8A8A-2C50-83CEE5D4B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7B71D-BD33-4C69-BCB8-09E11AC12661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9DA7C-05CB-B5CD-CABD-59C0E8163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C39E74-72D2-1A08-69DE-22A08F1D7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A18E9-C4BE-4466-8FD4-CF7C06465F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0511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51620D-BA59-AEEF-F9E1-C634BC2426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9BA68D-3F47-B8F5-2F75-67204E1150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A5871C-0134-821E-3145-9F6C3E1C2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7B71D-BD33-4C69-BCB8-09E11AC12661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A283FA-4DDF-5BFA-3260-C14173D38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E60629-4CCE-530B-6651-EC3C45CBB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A18E9-C4BE-4466-8FD4-CF7C06465F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15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D2176F-FA13-D21E-7597-A2AC286DD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97013E-B537-739E-7B1B-E46E11593F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A34F29-C691-0302-A80A-91003F4B07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E7B71D-BD33-4C69-BCB8-09E11AC12661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854C29-D9A9-A8DE-39DB-D50D41C6BD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DDEE62-A24B-58A7-87BE-2C8917226C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BA18E9-C4BE-4466-8FD4-CF7C06465F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583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&amp;sig=umgdlDCum1o--l6Rj6ougdTW3yVAa4UY7pEM8DKJeYk=&amp;t=o&amp;etag=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14AB2B0-6824-38ED-4F79-74544768F8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8890" y="0"/>
            <a:ext cx="12230890" cy="684116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1BF7ECB-5965-4C9C-CD81-FCA8E73181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2090" y="1825420"/>
            <a:ext cx="1052052" cy="1084929"/>
          </a:xfrm>
          <a:prstGeom prst="flowChartConnector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1821652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E9BC30B4-845B-F55A-54B4-A913364CEAA9}"/>
              </a:ext>
            </a:extLst>
          </p:cNvPr>
          <p:cNvSpPr/>
          <p:nvPr/>
        </p:nvSpPr>
        <p:spPr>
          <a:xfrm>
            <a:off x="201562" y="112113"/>
            <a:ext cx="11788875" cy="655415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590B6F-836C-962C-CE04-F4D0C25281D3}"/>
              </a:ext>
            </a:extLst>
          </p:cNvPr>
          <p:cNvSpPr txBox="1"/>
          <p:nvPr/>
        </p:nvSpPr>
        <p:spPr>
          <a:xfrm>
            <a:off x="255639" y="265471"/>
            <a:ext cx="99207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Problem &amp; Strategic Objectives</a:t>
            </a:r>
            <a:endParaRPr lang="en-IN" sz="2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48A2EDC-1E53-8E9D-E682-3063063F0F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0676" y="191730"/>
            <a:ext cx="914401" cy="95908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23A4F22-8584-0E19-4150-946ACE1686D7}"/>
              </a:ext>
            </a:extLst>
          </p:cNvPr>
          <p:cNvSpPr txBox="1"/>
          <p:nvPr/>
        </p:nvSpPr>
        <p:spPr>
          <a:xfrm>
            <a:off x="442452" y="1659285"/>
            <a:ext cx="390340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Challenge</a:t>
            </a:r>
            <a:endParaRPr lang="en-IN" sz="16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Sky Connect  Airlines has invested heavily in its loyalty program, but the management lacks visibility into whether the program is delivering meaningful business value.</a:t>
            </a:r>
          </a:p>
          <a:p>
            <a:pPr algn="just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Unclear customer retention impact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Unknown high-value customer segments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Unmeasured post-enrolment behaviour changes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Untracked tier performance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Unoptimized reward redemption policies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31C669-F63F-F6C0-E8D0-EF8ED905A494}"/>
              </a:ext>
            </a:extLst>
          </p:cNvPr>
          <p:cNvSpPr txBox="1"/>
          <p:nvPr/>
        </p:nvSpPr>
        <p:spPr>
          <a:xfrm>
            <a:off x="7511844" y="1135406"/>
            <a:ext cx="20156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</a:t>
            </a:r>
            <a:r>
              <a:rPr lang="en-IN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US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F023A4B-AFFF-E8EF-32D5-C12D9EA5FF6C}"/>
              </a:ext>
            </a:extLst>
          </p:cNvPr>
          <p:cNvSpPr/>
          <p:nvPr/>
        </p:nvSpPr>
        <p:spPr>
          <a:xfrm>
            <a:off x="6096000" y="1596754"/>
            <a:ext cx="5407742" cy="80069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Analytics</a:t>
            </a:r>
          </a:p>
          <a:p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 high-value customers using CLV segment by Loyalty, Salary, Education, Geography.</a:t>
            </a:r>
            <a:endParaRPr lang="en-I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D38BAA3-2B0E-6EE7-7029-1DD86908F501}"/>
              </a:ext>
            </a:extLst>
          </p:cNvPr>
          <p:cNvSpPr/>
          <p:nvPr/>
        </p:nvSpPr>
        <p:spPr>
          <a:xfrm>
            <a:off x="6096000" y="2489466"/>
            <a:ext cx="5407742" cy="80069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Loyalty Performance</a:t>
            </a:r>
          </a:p>
          <a:p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Evaluate enrollment trends &amp; cancellation rates identify the best performing loyalty tiers. </a:t>
            </a:r>
            <a:endParaRPr lang="en-I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CCBD43F-6B62-D992-06EA-583ACD34CBE2}"/>
              </a:ext>
            </a:extLst>
          </p:cNvPr>
          <p:cNvSpPr/>
          <p:nvPr/>
        </p:nvSpPr>
        <p:spPr>
          <a:xfrm>
            <a:off x="6096000" y="3382178"/>
            <a:ext cx="5407742" cy="80069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Flights Activity</a:t>
            </a:r>
            <a:endParaRPr lang="en-US" sz="16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 to monthly, yearly travel patterns Measure customer travel Frequency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9F09ACE-B4FC-FD0E-F2B0-0B0AF0246A44}"/>
              </a:ext>
            </a:extLst>
          </p:cNvPr>
          <p:cNvSpPr/>
          <p:nvPr/>
        </p:nvSpPr>
        <p:spPr>
          <a:xfrm>
            <a:off x="6096000" y="4274890"/>
            <a:ext cx="5407742" cy="80069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Rewards Analysis</a:t>
            </a:r>
          </a:p>
          <a:p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Track points accumulation &amp; redemption evaluate redemption cost impact</a:t>
            </a:r>
            <a:endParaRPr lang="en-I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18B203E-DCE9-07C8-6708-0B339AE75F2D}"/>
              </a:ext>
            </a:extLst>
          </p:cNvPr>
          <p:cNvSpPr/>
          <p:nvPr/>
        </p:nvSpPr>
        <p:spPr>
          <a:xfrm>
            <a:off x="6096000" y="5167602"/>
            <a:ext cx="5407742" cy="80069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Executive Support</a:t>
            </a:r>
          </a:p>
          <a:p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Strategic recommendations for retention optimize marketing &amp; reward policies</a:t>
            </a:r>
            <a:endParaRPr lang="en-I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0020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D105316-2E1E-1D9C-D479-966FD0A1ACDC}"/>
              </a:ext>
            </a:extLst>
          </p:cNvPr>
          <p:cNvSpPr/>
          <p:nvPr/>
        </p:nvSpPr>
        <p:spPr>
          <a:xfrm>
            <a:off x="201562" y="92449"/>
            <a:ext cx="11788875" cy="655415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C8351F-2551-4839-AAAA-A05FAFE7F6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0676" y="191730"/>
            <a:ext cx="914401" cy="95908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CB1B925-9615-8935-F95F-1BD7145546A9}"/>
              </a:ext>
            </a:extLst>
          </p:cNvPr>
          <p:cNvSpPr txBox="1"/>
          <p:nvPr/>
        </p:nvSpPr>
        <p:spPr>
          <a:xfrm>
            <a:off x="255639" y="265471"/>
            <a:ext cx="99207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Methodology </a:t>
            </a:r>
            <a:endParaRPr lang="en-IN" sz="2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9EAF5C6-CE98-DFBF-6B8D-093D36A82619}"/>
              </a:ext>
            </a:extLst>
          </p:cNvPr>
          <p:cNvSpPr/>
          <p:nvPr/>
        </p:nvSpPr>
        <p:spPr>
          <a:xfrm>
            <a:off x="513725" y="2104101"/>
            <a:ext cx="1374068" cy="833286"/>
          </a:xfrm>
          <a:prstGeom prst="ellipse">
            <a:avLst/>
          </a:prstGeom>
          <a:gradFill>
            <a:gsLst>
              <a:gs pos="0">
                <a:schemeClr val="accent3">
                  <a:lumMod val="110000"/>
                  <a:satMod val="105000"/>
                  <a:tint val="67000"/>
                </a:schemeClr>
              </a:gs>
              <a:gs pos="50000">
                <a:schemeClr val="accent3">
                  <a:lumMod val="105000"/>
                  <a:satMod val="103000"/>
                  <a:tint val="73000"/>
                </a:schemeClr>
              </a:gs>
              <a:gs pos="100000">
                <a:schemeClr val="accent3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lang="en-IN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B3F387D-BCBA-C7EF-A078-51B60C65C006}"/>
              </a:ext>
            </a:extLst>
          </p:cNvPr>
          <p:cNvSpPr/>
          <p:nvPr/>
        </p:nvSpPr>
        <p:spPr>
          <a:xfrm>
            <a:off x="2443316" y="2104101"/>
            <a:ext cx="1374068" cy="833286"/>
          </a:xfrm>
          <a:prstGeom prst="ellipse">
            <a:avLst/>
          </a:prstGeom>
          <a:gradFill>
            <a:gsLst>
              <a:gs pos="100000">
                <a:schemeClr val="accent5">
                  <a:lumMod val="60000"/>
                  <a:lumOff val="40000"/>
                </a:schemeClr>
              </a:gs>
              <a:gs pos="100000">
                <a:schemeClr val="accent3">
                  <a:lumMod val="105000"/>
                  <a:satMod val="103000"/>
                  <a:tint val="73000"/>
                </a:schemeClr>
              </a:gs>
              <a:gs pos="100000">
                <a:schemeClr val="accent3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endParaRPr lang="en-IN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CB02862-53DB-1E0B-BE58-7A2E320E3DB0}"/>
              </a:ext>
            </a:extLst>
          </p:cNvPr>
          <p:cNvSpPr/>
          <p:nvPr/>
        </p:nvSpPr>
        <p:spPr>
          <a:xfrm>
            <a:off x="8217325" y="2104101"/>
            <a:ext cx="1374068" cy="833286"/>
          </a:xfrm>
          <a:prstGeom prst="ellipse">
            <a:avLst/>
          </a:prstGeom>
          <a:gradFill>
            <a:gsLst>
              <a:gs pos="100000">
                <a:srgbClr val="E9CAB6"/>
              </a:gs>
              <a:gs pos="0">
                <a:srgbClr val="F3B2F8"/>
              </a:gs>
              <a:gs pos="100000">
                <a:schemeClr val="accent3">
                  <a:lumMod val="105000"/>
                  <a:satMod val="103000"/>
                  <a:tint val="73000"/>
                </a:schemeClr>
              </a:gs>
              <a:gs pos="100000">
                <a:schemeClr val="accent3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  <a:endParaRPr lang="en-IN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1326489-164B-0BAE-5ECB-514BE551A845}"/>
              </a:ext>
            </a:extLst>
          </p:cNvPr>
          <p:cNvSpPr/>
          <p:nvPr/>
        </p:nvSpPr>
        <p:spPr>
          <a:xfrm>
            <a:off x="4382740" y="2104101"/>
            <a:ext cx="1374068" cy="833286"/>
          </a:xfrm>
          <a:prstGeom prst="ellipse">
            <a:avLst/>
          </a:prstGeom>
          <a:gradFill>
            <a:gsLst>
              <a:gs pos="100000">
                <a:schemeClr val="tx2">
                  <a:lumMod val="40000"/>
                  <a:lumOff val="60000"/>
                </a:schemeClr>
              </a:gs>
              <a:gs pos="100000">
                <a:schemeClr val="accent3">
                  <a:lumMod val="105000"/>
                  <a:satMod val="103000"/>
                  <a:tint val="73000"/>
                </a:schemeClr>
              </a:gs>
              <a:gs pos="100000">
                <a:schemeClr val="accent3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  <a:endParaRPr lang="en-IN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592A34D9-3D79-A241-16D7-3C53AAA80AFE}"/>
              </a:ext>
            </a:extLst>
          </p:cNvPr>
          <p:cNvSpPr/>
          <p:nvPr/>
        </p:nvSpPr>
        <p:spPr>
          <a:xfrm>
            <a:off x="6287731" y="2104101"/>
            <a:ext cx="1374068" cy="833286"/>
          </a:xfrm>
          <a:prstGeom prst="ellipse">
            <a:avLst/>
          </a:prstGeom>
          <a:gradFill>
            <a:gsLst>
              <a:gs pos="100000">
                <a:srgbClr val="DBC9BD"/>
              </a:gs>
              <a:gs pos="100000">
                <a:schemeClr val="accent2">
                  <a:lumMod val="40000"/>
                  <a:lumOff val="60000"/>
                </a:schemeClr>
              </a:gs>
              <a:gs pos="100000">
                <a:schemeClr val="accent3">
                  <a:lumMod val="105000"/>
                  <a:satMod val="103000"/>
                  <a:tint val="73000"/>
                </a:schemeClr>
              </a:gs>
              <a:gs pos="100000">
                <a:schemeClr val="accent3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  <a:endParaRPr lang="en-IN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3B5ED93F-4A13-6494-4DC7-A87E0F3F240A}"/>
              </a:ext>
            </a:extLst>
          </p:cNvPr>
          <p:cNvSpPr/>
          <p:nvPr/>
        </p:nvSpPr>
        <p:spPr>
          <a:xfrm>
            <a:off x="10103881" y="2104101"/>
            <a:ext cx="1374068" cy="833286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  <a:endParaRPr lang="en-IN" dirty="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2919F9C-460E-0DEF-074C-9553F0F85805}"/>
              </a:ext>
            </a:extLst>
          </p:cNvPr>
          <p:cNvCxnSpPr/>
          <p:nvPr/>
        </p:nvCxnSpPr>
        <p:spPr>
          <a:xfrm>
            <a:off x="1976284" y="2520744"/>
            <a:ext cx="36379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A787AA9-F843-A510-EE61-E7CBD3944B07}"/>
              </a:ext>
            </a:extLst>
          </p:cNvPr>
          <p:cNvCxnSpPr/>
          <p:nvPr/>
        </p:nvCxnSpPr>
        <p:spPr>
          <a:xfrm>
            <a:off x="3932924" y="2559593"/>
            <a:ext cx="36379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361FA85-456C-D3F1-ADE2-48B16D71CB3D}"/>
              </a:ext>
            </a:extLst>
          </p:cNvPr>
          <p:cNvCxnSpPr/>
          <p:nvPr/>
        </p:nvCxnSpPr>
        <p:spPr>
          <a:xfrm>
            <a:off x="7760121" y="2520744"/>
            <a:ext cx="36379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67E095E-87A1-B92D-55F1-FAAE0608CB05}"/>
              </a:ext>
            </a:extLst>
          </p:cNvPr>
          <p:cNvCxnSpPr/>
          <p:nvPr/>
        </p:nvCxnSpPr>
        <p:spPr>
          <a:xfrm>
            <a:off x="9670026" y="2559593"/>
            <a:ext cx="36379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EC20D45-5C83-D1CE-A59C-2BE81EC8A199}"/>
              </a:ext>
            </a:extLst>
          </p:cNvPr>
          <p:cNvCxnSpPr/>
          <p:nvPr/>
        </p:nvCxnSpPr>
        <p:spPr>
          <a:xfrm>
            <a:off x="5825634" y="2559593"/>
            <a:ext cx="36379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5E0EFE9A-327A-2939-FC4B-DD36FF822E79}"/>
              </a:ext>
            </a:extLst>
          </p:cNvPr>
          <p:cNvSpPr txBox="1"/>
          <p:nvPr/>
        </p:nvSpPr>
        <p:spPr>
          <a:xfrm>
            <a:off x="513725" y="3389191"/>
            <a:ext cx="17575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</a:t>
            </a:r>
          </a:p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4ADB419-13F7-FF88-8ACF-43CEE5F21CC6}"/>
              </a:ext>
            </a:extLst>
          </p:cNvPr>
          <p:cNvSpPr txBox="1"/>
          <p:nvPr/>
        </p:nvSpPr>
        <p:spPr>
          <a:xfrm>
            <a:off x="2340078" y="3389191"/>
            <a:ext cx="17575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Preparation</a:t>
            </a:r>
          </a:p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Cleaning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8C00F1F-D1AC-D374-753E-FA1853C0B957}"/>
              </a:ext>
            </a:extLst>
          </p:cNvPr>
          <p:cNvSpPr txBox="1"/>
          <p:nvPr/>
        </p:nvSpPr>
        <p:spPr>
          <a:xfrm>
            <a:off x="4250004" y="3416230"/>
            <a:ext cx="17575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</a:t>
            </a:r>
          </a:p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633A2BE-239A-F7F9-0AB2-23DCB178F8D1}"/>
              </a:ext>
            </a:extLst>
          </p:cNvPr>
          <p:cNvSpPr txBox="1"/>
          <p:nvPr/>
        </p:nvSpPr>
        <p:spPr>
          <a:xfrm>
            <a:off x="6184471" y="3335839"/>
            <a:ext cx="17575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</a:p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Investigation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C94336C-9BEC-23AB-65D6-A08BBCFDF421}"/>
              </a:ext>
            </a:extLst>
          </p:cNvPr>
          <p:cNvSpPr txBox="1"/>
          <p:nvPr/>
        </p:nvSpPr>
        <p:spPr>
          <a:xfrm>
            <a:off x="8094397" y="3335839"/>
            <a:ext cx="17575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Dataset</a:t>
            </a:r>
          </a:p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Creation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13A463E-02B5-7FEB-409D-613CE12C8531}"/>
              </a:ext>
            </a:extLst>
          </p:cNvPr>
          <p:cNvSpPr txBox="1"/>
          <p:nvPr/>
        </p:nvSpPr>
        <p:spPr>
          <a:xfrm>
            <a:off x="10023987" y="3389190"/>
            <a:ext cx="17575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</a:t>
            </a:r>
          </a:p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57F93ED-26B1-F027-E0D4-407037CF187F}"/>
              </a:ext>
            </a:extLst>
          </p:cNvPr>
          <p:cNvSpPr txBox="1"/>
          <p:nvPr/>
        </p:nvSpPr>
        <p:spPr>
          <a:xfrm>
            <a:off x="5216013" y="4314352"/>
            <a:ext cx="17575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Sources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2F3E0E4-8B89-8AB8-AE10-8CD8537D2943}"/>
              </a:ext>
            </a:extLst>
          </p:cNvPr>
          <p:cNvSpPr/>
          <p:nvPr/>
        </p:nvSpPr>
        <p:spPr>
          <a:xfrm>
            <a:off x="2158198" y="5152081"/>
            <a:ext cx="2470365" cy="894721"/>
          </a:xfrm>
          <a:prstGeom prst="rect">
            <a:avLst/>
          </a:prstGeom>
          <a:solidFill>
            <a:srgbClr val="C9C9C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Loyalty</a:t>
            </a:r>
          </a:p>
          <a:p>
            <a:pPr algn="ctr"/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History</a:t>
            </a:r>
            <a:endParaRPr lang="en-IN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9CCDC7D-6AA5-3D37-ED72-A3F206C64D4A}"/>
              </a:ext>
            </a:extLst>
          </p:cNvPr>
          <p:cNvSpPr/>
          <p:nvPr/>
        </p:nvSpPr>
        <p:spPr>
          <a:xfrm>
            <a:off x="7941998" y="5098729"/>
            <a:ext cx="2470365" cy="89472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Calendar</a:t>
            </a:r>
          </a:p>
          <a:p>
            <a:pPr algn="ctr"/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Dimension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E1DAD79-0E8C-18D4-947F-0AE9753F4DB8}"/>
              </a:ext>
            </a:extLst>
          </p:cNvPr>
          <p:cNvSpPr/>
          <p:nvPr/>
        </p:nvSpPr>
        <p:spPr>
          <a:xfrm>
            <a:off x="5050098" y="5112774"/>
            <a:ext cx="2470365" cy="894721"/>
          </a:xfrm>
          <a:prstGeom prst="rect">
            <a:avLst/>
          </a:prstGeom>
          <a:solidFill>
            <a:srgbClr val="9DC3E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Flight</a:t>
            </a:r>
          </a:p>
          <a:p>
            <a:pPr algn="ctr"/>
            <a:r>
              <a:rPr lang="en-US" sz="16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Activity</a:t>
            </a:r>
            <a:endParaRPr lang="en-IN" sz="16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41651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ADE158F-2B93-A941-1A00-A4C156F8555D}"/>
              </a:ext>
            </a:extLst>
          </p:cNvPr>
          <p:cNvSpPr/>
          <p:nvPr/>
        </p:nvSpPr>
        <p:spPr>
          <a:xfrm>
            <a:off x="201562" y="112113"/>
            <a:ext cx="11788875" cy="655415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8455BA-15C2-7D62-1EAE-E654A19052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0676" y="211394"/>
            <a:ext cx="914401" cy="95908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E0AA26A-ED3F-45DE-4FA3-C2B061C557B3}"/>
              </a:ext>
            </a:extLst>
          </p:cNvPr>
          <p:cNvSpPr txBox="1"/>
          <p:nvPr/>
        </p:nvSpPr>
        <p:spPr>
          <a:xfrm>
            <a:off x="255639" y="265471"/>
            <a:ext cx="99207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Executive Performance Dashboard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96C1409-AE5A-1E52-E80F-3CB71FD5EF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569" y="956745"/>
            <a:ext cx="9770020" cy="547747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16849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8327B0F-01C9-C28F-C837-53BBF71FAB60}"/>
              </a:ext>
            </a:extLst>
          </p:cNvPr>
          <p:cNvSpPr/>
          <p:nvPr/>
        </p:nvSpPr>
        <p:spPr>
          <a:xfrm>
            <a:off x="201562" y="112113"/>
            <a:ext cx="11788875" cy="655415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2AD4EA-CC1B-9B32-35D2-6F741BA4E2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0676" y="211394"/>
            <a:ext cx="914401" cy="95908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EABADAB-4632-7AA4-E877-DF072BA7702C}"/>
              </a:ext>
            </a:extLst>
          </p:cNvPr>
          <p:cNvSpPr txBox="1"/>
          <p:nvPr/>
        </p:nvSpPr>
        <p:spPr>
          <a:xfrm>
            <a:off x="255639" y="265471"/>
            <a:ext cx="99207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Intelligence Dashboard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BCDE700-4978-F9C9-F234-D8E4351702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916" y="1323840"/>
            <a:ext cx="10519818" cy="43079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468188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D2424C8-B41D-2994-DED9-2111BA609D02}"/>
              </a:ext>
            </a:extLst>
          </p:cNvPr>
          <p:cNvSpPr/>
          <p:nvPr/>
        </p:nvSpPr>
        <p:spPr>
          <a:xfrm>
            <a:off x="201562" y="112113"/>
            <a:ext cx="11788875" cy="655415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9C3D54-281D-5F8B-DDD3-F6FA64AB12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0676" y="211394"/>
            <a:ext cx="914401" cy="95908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7860E91-BA36-2876-C9EF-29B7A8DD8565}"/>
              </a:ext>
            </a:extLst>
          </p:cNvPr>
          <p:cNvSpPr txBox="1"/>
          <p:nvPr/>
        </p:nvSpPr>
        <p:spPr>
          <a:xfrm>
            <a:off x="255639" y="265471"/>
            <a:ext cx="99207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Loyalty &amp; Rewards Performance Dashboard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802A805-85E9-2934-47B9-202E90BE58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550" y="1488957"/>
            <a:ext cx="10354898" cy="48588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341649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50FC08F-3342-D4DF-66D6-C7954C707AB8}"/>
              </a:ext>
            </a:extLst>
          </p:cNvPr>
          <p:cNvSpPr/>
          <p:nvPr/>
        </p:nvSpPr>
        <p:spPr>
          <a:xfrm>
            <a:off x="201562" y="112113"/>
            <a:ext cx="11788875" cy="655415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E5C12E-4B2D-5D64-C2D6-AC97388015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0676" y="211394"/>
            <a:ext cx="914401" cy="95908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49EC27B-519B-7F26-4AC8-C32AC700CEBB}"/>
              </a:ext>
            </a:extLst>
          </p:cNvPr>
          <p:cNvSpPr txBox="1"/>
          <p:nvPr/>
        </p:nvSpPr>
        <p:spPr>
          <a:xfrm>
            <a:off x="408039" y="417871"/>
            <a:ext cx="99207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Business Insights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29B808-526C-ACA8-1BC6-40B578244064}"/>
              </a:ext>
            </a:extLst>
          </p:cNvPr>
          <p:cNvSpPr txBox="1"/>
          <p:nvPr/>
        </p:nvSpPr>
        <p:spPr>
          <a:xfrm>
            <a:off x="634179" y="1387634"/>
            <a:ext cx="10773697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Customer Retention is the Primary Driver of Business Value</a:t>
            </a:r>
          </a:p>
          <a:p>
            <a:pPr algn="just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majority of revenue and Customer Lifetime Value (CLV) is generated by active loyalty members, highlighting that improving customer retention has a greater long-term impact than acquiring new customers.</a:t>
            </a:r>
          </a:p>
          <a:p>
            <a:pPr algn="just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Premium Loyalty Members Generate Higher Customer Lifetime Value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enrolled in higher loyalty card tiers consistently contribute higher average CLV, making them the airline's most valuable customer segment.</a:t>
            </a:r>
          </a:p>
          <a:p>
            <a:pPr algn="just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Travel Activity Directly Influences Customer Engagement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with higher flight frequency demonstrate stronger engagement through increased reward point accumulation and redemption, indicating a positive relationship between travel activity and loyalty.</a:t>
            </a:r>
          </a:p>
          <a:p>
            <a:pPr algn="just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Geographic Markets Show Different Levels of Customer Performance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concentration, flight activity, and loyalty engagement vary across provinces and cities, enabling the airline to identify high-performing markets and regions requiring additional marketing investment.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Reward Redemption Reflects Program Effectiveness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healthy reward redemption rate indicates that customers actively participate in the loyalty program, while customers with accumulated but unredeemed points represent an opportunity for targeted engagement campaigns.</a:t>
            </a:r>
          </a:p>
        </p:txBody>
      </p:sp>
    </p:spTree>
    <p:extLst>
      <p:ext uri="{BB962C8B-B14F-4D97-AF65-F5344CB8AC3E}">
        <p14:creationId xmlns:p14="http://schemas.microsoft.com/office/powerpoint/2010/main" val="39165566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25F245A-5351-529D-8828-B84A8ED3C128}"/>
              </a:ext>
            </a:extLst>
          </p:cNvPr>
          <p:cNvSpPr/>
          <p:nvPr/>
        </p:nvSpPr>
        <p:spPr>
          <a:xfrm>
            <a:off x="201562" y="112113"/>
            <a:ext cx="11788875" cy="655415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19A1FD-6250-2359-E941-52A3AC7622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0676" y="191730"/>
            <a:ext cx="914401" cy="95908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B340C30-4E78-7FB0-7295-0B5EA3A84CDD}"/>
              </a:ext>
            </a:extLst>
          </p:cNvPr>
          <p:cNvSpPr txBox="1"/>
          <p:nvPr/>
        </p:nvSpPr>
        <p:spPr>
          <a:xfrm>
            <a:off x="408039" y="417871"/>
            <a:ext cx="99207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Business Insights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7A83B6-2CDF-C0DA-E4BA-9054942ECA0E}"/>
              </a:ext>
            </a:extLst>
          </p:cNvPr>
          <p:cNvSpPr txBox="1"/>
          <p:nvPr/>
        </p:nvSpPr>
        <p:spPr>
          <a:xfrm>
            <a:off x="634179" y="1387634"/>
            <a:ext cx="10773697" cy="5109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High-Value Customers Represent a Small but Critical Segment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relatively small percentage of customers contributes a significant share of total Customer Lifetime Value, emphasizing the importance of personalized retention strategies for premium members.</a:t>
            </a:r>
          </a:p>
          <a:p>
            <a:pPr algn="just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Seasonal Travel Patterns Influence Airline Performance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and yearly flight trends reveal clear seasonal demand, allowing the airline to optimize capacity planning, promotional campaigns, and pricing strategies during peak and off-peak periods.</a:t>
            </a:r>
          </a:p>
          <a:p>
            <a:pPr algn="just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Customer Segmentation Supports Personalized Marketing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Segmenting customers by CLV, flight frequency, salary band, and redemption behaviour enables the airline to deliver targeted marketing campaigns that improve customer satisfaction and campaign effectiveness.</a:t>
            </a:r>
          </a:p>
          <a:p>
            <a:pPr algn="just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Engagement Score Helps Identify Growth Opportunities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classified with low engagement scores can be targeted with personalized offers, bonus reward campaigns, and travel incentives to improve activity and reduce future cancellations.</a:t>
            </a:r>
          </a:p>
          <a:p>
            <a:pPr algn="just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Data-Driven Decision Making Improves Loyalty Program Performance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Combining customer demographics, flight activity, loyalty behaviour, and reward analytics provides management with actionable insights that support strategic planning, operational efficiency, and long-term business growth.</a:t>
            </a:r>
          </a:p>
          <a:p>
            <a:pPr algn="just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04448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786A31F-AE09-1BCB-A0C3-DF69D4E7CBA4}"/>
              </a:ext>
            </a:extLst>
          </p:cNvPr>
          <p:cNvSpPr/>
          <p:nvPr/>
        </p:nvSpPr>
        <p:spPr>
          <a:xfrm>
            <a:off x="201562" y="112113"/>
            <a:ext cx="11788875" cy="655415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2A986B-4994-38D6-A4EC-898E58671A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0676" y="191730"/>
            <a:ext cx="914401" cy="95908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1E62BE5-86DF-70D0-F7DB-2EA25495C938}"/>
              </a:ext>
            </a:extLst>
          </p:cNvPr>
          <p:cNvSpPr txBox="1"/>
          <p:nvPr/>
        </p:nvSpPr>
        <p:spPr>
          <a:xfrm>
            <a:off x="408039" y="417871"/>
            <a:ext cx="99207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Strategic Recommendations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B70ED3-D279-387C-2C43-C3DDD8704136}"/>
              </a:ext>
            </a:extLst>
          </p:cNvPr>
          <p:cNvSpPr txBox="1"/>
          <p:nvPr/>
        </p:nvSpPr>
        <p:spPr>
          <a:xfrm>
            <a:off x="580103" y="1281695"/>
            <a:ext cx="3342968" cy="452431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Strengthen Retention for High-Value Customers</a:t>
            </a:r>
          </a:p>
          <a:p>
            <a:pPr algn="just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 the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20 High Value Customers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CLV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Retention Rate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visuals.</a:t>
            </a:r>
          </a:p>
          <a:p>
            <a:pPr algn="just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Recommendation: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 exclusive travel benefits such as complimentary lounge access, priority boarding, and bonus reward points for customers with the highest Customer Lifetime Value (CLV).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 relationship managers to premium customers to improve long-term retention. </a:t>
            </a:r>
          </a:p>
          <a:p>
            <a:pPr algn="just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Business Impact: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Increased customer retention and higher lifetime revenue.</a:t>
            </a:r>
          </a:p>
          <a:p>
            <a:pPr algn="just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4319964-E489-39CF-65EC-628EEB0E9A0C}"/>
              </a:ext>
            </a:extLst>
          </p:cNvPr>
          <p:cNvSpPr txBox="1"/>
          <p:nvPr/>
        </p:nvSpPr>
        <p:spPr>
          <a:xfrm>
            <a:off x="4161503" y="1281695"/>
            <a:ext cx="3342968" cy="452431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6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Launch Re-engagement Campaigns for Low-Activity Members</a:t>
            </a:r>
          </a:p>
          <a:p>
            <a:r>
              <a:rPr lang="en-IN" sz="16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  <a:r>
              <a:rPr lang="en-IN" sz="16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Use the </a:t>
            </a:r>
            <a:r>
              <a:rPr lang="en-IN" sz="16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Flight Frequency Categories</a:t>
            </a:r>
            <a:r>
              <a:rPr lang="en-IN" sz="16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6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Engagement Score</a:t>
            </a:r>
            <a:r>
              <a:rPr lang="en-IN" sz="16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IN" sz="16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Active vs Cancelled Members</a:t>
            </a:r>
            <a:r>
              <a:rPr lang="en-IN" sz="16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16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Recommendation:</a:t>
            </a:r>
            <a:endParaRPr lang="en-IN" sz="16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 customers classified as </a:t>
            </a:r>
            <a:r>
              <a:rPr lang="en-IN" sz="16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Occasional Travelers</a:t>
            </a:r>
            <a:r>
              <a:rPr lang="en-IN" sz="16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IN" sz="16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 Engagement</a:t>
            </a:r>
            <a:r>
              <a:rPr lang="en-IN" sz="16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with personalized email campaigns, limited-time discounts, and bonus point offers. </a:t>
            </a:r>
          </a:p>
          <a:p>
            <a:r>
              <a:rPr lang="en-IN" sz="16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Encourage inactive members to complete at least one trip within a promotional period. </a:t>
            </a:r>
          </a:p>
          <a:p>
            <a:r>
              <a:rPr lang="en-IN" sz="16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Expected Business Impact:</a:t>
            </a:r>
            <a:r>
              <a:rPr lang="en-IN" sz="16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Higher flight frequency.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C96A821-3D05-D1A4-7CAC-43C924E72EFB}"/>
              </a:ext>
            </a:extLst>
          </p:cNvPr>
          <p:cNvSpPr txBox="1"/>
          <p:nvPr/>
        </p:nvSpPr>
        <p:spPr>
          <a:xfrm>
            <a:off x="7742903" y="1281695"/>
            <a:ext cx="3342968" cy="452431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6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Improve Reward Redemption Participation</a:t>
            </a:r>
          </a:p>
          <a:p>
            <a:r>
              <a:rPr lang="en-IN" sz="16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  <a:r>
              <a:rPr lang="en-IN" sz="160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Use </a:t>
            </a:r>
            <a:r>
              <a:rPr lang="en-IN" sz="16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Points Earned</a:t>
            </a:r>
            <a:r>
              <a:rPr lang="en-IN" sz="160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6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Points Redeemed</a:t>
            </a:r>
            <a:r>
              <a:rPr lang="en-IN" sz="160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IN" sz="16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Redemption Rate</a:t>
            </a:r>
            <a:r>
              <a:rPr lang="en-IN" sz="160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16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Recommendation:</a:t>
            </a:r>
            <a:endParaRPr lang="en-IN" sz="1600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redemption rates are low, simplify the redemption process and promote reward availability through the mobile app and email. </a:t>
            </a:r>
          </a:p>
          <a:p>
            <a:r>
              <a:rPr lang="en-IN" sz="160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Introduce limited-time double-value redemption events to encourage customers to use accumulated points. </a:t>
            </a:r>
          </a:p>
          <a:p>
            <a:r>
              <a:rPr lang="en-IN" sz="16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Expected Business Impact:</a:t>
            </a:r>
            <a:r>
              <a:rPr lang="en-IN" sz="160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Increased customer engagement and stronger perceived value of the loyalty program.</a:t>
            </a:r>
          </a:p>
          <a:p>
            <a:pPr algn="just">
              <a:buNone/>
            </a:pPr>
            <a:endParaRPr lang="en-IN" sz="1600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69631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18DB503-7647-93B9-CEF4-FA54A9C9E56D}"/>
              </a:ext>
            </a:extLst>
          </p:cNvPr>
          <p:cNvSpPr/>
          <p:nvPr/>
        </p:nvSpPr>
        <p:spPr>
          <a:xfrm>
            <a:off x="201562" y="102281"/>
            <a:ext cx="11788875" cy="655415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8A49BD-13ED-A883-5835-C31A77821E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0676" y="191730"/>
            <a:ext cx="914401" cy="95908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CB66B9D-34C3-669A-874D-98C8D37B18A0}"/>
              </a:ext>
            </a:extLst>
          </p:cNvPr>
          <p:cNvSpPr txBox="1"/>
          <p:nvPr/>
        </p:nvSpPr>
        <p:spPr>
          <a:xfrm>
            <a:off x="580103" y="1281695"/>
            <a:ext cx="3342968" cy="42780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Expand Marketing in High-Performing Regions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Distribution by Province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Provinces by Customer Count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Flights by Province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Recommendation: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marketing investment in provinces with high customer growth and strong travel activity.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Replicate successful campaigns from top-performing provinces in regions with lower customer acquisition. 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Business Impact: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Increased enrolment and improved regional market penetration.</a:t>
            </a:r>
          </a:p>
          <a:p>
            <a:pPr algn="just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05AC2-21FE-9133-D779-0F8BD07E0217}"/>
              </a:ext>
            </a:extLst>
          </p:cNvPr>
          <p:cNvSpPr txBox="1"/>
          <p:nvPr/>
        </p:nvSpPr>
        <p:spPr>
          <a:xfrm>
            <a:off x="4134464" y="1289953"/>
            <a:ext cx="3342968" cy="427809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6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Optimize Loyalty Card Benefits</a:t>
            </a:r>
          </a:p>
          <a:p>
            <a:r>
              <a:rPr lang="en-IN" sz="16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  <a:r>
              <a:rPr lang="en-IN" sz="16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Use </a:t>
            </a:r>
            <a:r>
              <a:rPr lang="en-IN" sz="16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Loyalty Card Distribution</a:t>
            </a:r>
            <a:r>
              <a:rPr lang="en-IN" sz="16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6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Average CLV by Loyalty Card</a:t>
            </a:r>
            <a:r>
              <a:rPr lang="en-IN" sz="16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IN" sz="16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Redemption Cost by Loyalty Card</a:t>
            </a:r>
            <a:r>
              <a:rPr lang="en-IN" sz="16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16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Recommendation:</a:t>
            </a:r>
            <a:endParaRPr lang="en-IN" sz="16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 loyalty tiers that have high redemption costs but low customer value. </a:t>
            </a:r>
          </a:p>
          <a:p>
            <a:r>
              <a:rPr lang="en-IN" sz="16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Enhance benefits for tiers that consistently generate higher CLV and stronger customer engagement. </a:t>
            </a:r>
          </a:p>
          <a:p>
            <a:r>
              <a:rPr lang="en-IN" sz="16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Expected Business Impact:</a:t>
            </a:r>
            <a:r>
              <a:rPr lang="en-IN" sz="16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Better profitability and more effective loyalty program management.</a:t>
            </a:r>
          </a:p>
          <a:p>
            <a:endParaRPr lang="en-IN" sz="16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endParaRPr lang="en-IN" sz="16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4560753-138C-D291-3F9F-8D814D35FF40}"/>
              </a:ext>
            </a:extLst>
          </p:cNvPr>
          <p:cNvSpPr txBox="1"/>
          <p:nvPr/>
        </p:nvSpPr>
        <p:spPr>
          <a:xfrm>
            <a:off x="7688826" y="1289953"/>
            <a:ext cx="3342968" cy="427809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6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Increase Membership Growth</a:t>
            </a:r>
          </a:p>
          <a:p>
            <a:r>
              <a:rPr lang="en-IN" sz="16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  <a:r>
              <a:rPr lang="en-IN" sz="160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Use </a:t>
            </a:r>
            <a:r>
              <a:rPr lang="en-IN" sz="16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Enrolment Trend</a:t>
            </a:r>
            <a:r>
              <a:rPr lang="en-IN" sz="160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16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Membership Growth Rate</a:t>
            </a:r>
            <a:r>
              <a:rPr lang="en-IN" sz="160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16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Recommendation:</a:t>
            </a:r>
            <a:endParaRPr lang="en-IN" sz="1600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Introduce referral programs, welcome bonus points, and co-branded credit card partnerships to attract new members. </a:t>
            </a:r>
          </a:p>
          <a:p>
            <a:r>
              <a:rPr lang="en-IN" sz="160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Focus promotional campaigns during months with historically lower enrolment. </a:t>
            </a:r>
          </a:p>
          <a:p>
            <a:r>
              <a:rPr lang="en-IN" sz="16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Expected Business Impact:</a:t>
            </a:r>
            <a:r>
              <a:rPr lang="en-IN" sz="160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Faster loyalty program growth and a larger active customer base.</a:t>
            </a:r>
          </a:p>
          <a:p>
            <a:pPr algn="just">
              <a:buNone/>
            </a:pPr>
            <a:endParaRPr lang="en-IN" sz="1600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endParaRPr lang="en-IN" sz="1600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D295D9D-1B9D-AF55-C12A-C7D0EC9319BC}"/>
              </a:ext>
            </a:extLst>
          </p:cNvPr>
          <p:cNvSpPr txBox="1"/>
          <p:nvPr/>
        </p:nvSpPr>
        <p:spPr>
          <a:xfrm>
            <a:off x="408039" y="417871"/>
            <a:ext cx="99207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Strategic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27042758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C7012C2-75C7-6E73-6470-9D7916551813}"/>
              </a:ext>
            </a:extLst>
          </p:cNvPr>
          <p:cNvSpPr/>
          <p:nvPr/>
        </p:nvSpPr>
        <p:spPr>
          <a:xfrm>
            <a:off x="201562" y="112113"/>
            <a:ext cx="11788875" cy="655415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435632-E394-8BBD-3EE3-FBB1C1BBCB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0676" y="191730"/>
            <a:ext cx="914401" cy="95908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73FF503-F447-412D-E6D2-CEC7DAEB55A1}"/>
              </a:ext>
            </a:extLst>
          </p:cNvPr>
          <p:cNvSpPr txBox="1"/>
          <p:nvPr/>
        </p:nvSpPr>
        <p:spPr>
          <a:xfrm>
            <a:off x="560439" y="570271"/>
            <a:ext cx="99207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chemeClr val="accent5">
                    <a:lumMod val="50000"/>
                  </a:schemeClr>
                </a:solidFill>
              </a:rPr>
              <a:t>Business Impact</a:t>
            </a:r>
            <a:endParaRPr lang="en-IN" sz="2400" b="1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7F93122-7FF8-DCDF-4007-B5C866BAEE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0970413"/>
              </p:ext>
            </p:extLst>
          </p:nvPr>
        </p:nvGraphicFramePr>
        <p:xfrm>
          <a:off x="1534649" y="1766292"/>
          <a:ext cx="9416027" cy="25958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512913">
                  <a:extLst>
                    <a:ext uri="{9D8B030D-6E8A-4147-A177-3AD203B41FA5}">
                      <a16:colId xmlns:a16="http://schemas.microsoft.com/office/drawing/2014/main" val="1879848940"/>
                    </a:ext>
                  </a:extLst>
                </a:gridCol>
                <a:gridCol w="5903114">
                  <a:extLst>
                    <a:ext uri="{9D8B030D-6E8A-4147-A177-3AD203B41FA5}">
                      <a16:colId xmlns:a16="http://schemas.microsoft.com/office/drawing/2014/main" val="24987982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Initiative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Expected Business Benefit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91371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dirty="0"/>
                        <a:t>Customer Retention Programs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Increased repeat customers and higher CLV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62678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dirty="0"/>
                        <a:t>Personalized Marketing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Higher conversion rates and better campaign performance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81972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dirty="0"/>
                        <a:t>Reward Program Optimization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Increased engagement with controlled redemption costs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427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dirty="0"/>
                        <a:t>High-Value Customer Focus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Greater profitability from premium customer segments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80034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dirty="0"/>
                        <a:t>Data-Driven Dashboards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Faster decision-making and improved operational efficiency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64240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dirty="0"/>
                        <a:t>Flight Trend Analysis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Better resource utilization and demand forecasting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3073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72582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405</TotalTime>
  <Words>1031</Words>
  <Application>Microsoft Office PowerPoint</Application>
  <PresentationFormat>Widescreen</PresentationFormat>
  <Paragraphs>135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Prasanna Kumar</dc:creator>
  <cp:lastModifiedBy>Prasanna Kumar</cp:lastModifiedBy>
  <cp:revision>12</cp:revision>
  <dcterms:created xsi:type="dcterms:W3CDTF">2026-08-05T04:22:39Z</dcterms:created>
  <dcterms:modified xsi:type="dcterms:W3CDTF">2026-08-06T04:10:05Z</dcterms:modified>
</cp:coreProperties>
</file>